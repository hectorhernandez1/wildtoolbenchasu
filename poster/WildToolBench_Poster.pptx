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6.xml.rels" ContentType="application/vnd.openxmlformats-package.relationships+xml"/>
  <Override PartName="/ppt/slideMasters/_rels/slideMaster1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1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6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8.xml.rels" ContentType="application/vnd.openxmlformats-package.relationships+xml"/>
  <Override PartName="/ppt/slideMasters/_rels/slideMaster20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19.xml.rels" ContentType="application/vnd.openxmlformats-package.relationships+xml"/>
  <Override PartName="/ppt/slideMasters/_rels/slideMaster21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23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29.xml.rels" ContentType="application/vnd.openxmlformats-package.relationships+xml"/>
  <Override PartName="/ppt/slideMasters/_rels/slideMaster28.xml.rels" ContentType="application/vnd.openxmlformats-package.relationships+xml"/>
  <Override PartName="/ppt/slideMasters/_rels/slideMaster27.xml.rels" ContentType="application/vnd.openxmlformats-package.relationships+xml"/>
  <Override PartName="/ppt/slideMasters/_rels/slideMaster22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3.xml.rels" ContentType="application/vnd.openxmlformats-package.relationships+xml"/>
  <Override PartName="/ppt/slideMasters/_rels/slideMaster25.xml.rels" ContentType="application/vnd.openxmlformats-package.relationships+xml"/>
  <Override PartName="/ppt/slideMasters/_rels/slideMaster24.xml.rels" ContentType="application/vnd.openxmlformats-package.relationships+xml"/>
  <Override PartName="/ppt/slideMasters/_rels/slideMaster12.xml.rels" ContentType="application/vnd.openxmlformats-package.relationships+xml"/>
  <Override PartName="/ppt/slideMasters/_rels/slideMaster1.xml.rels" ContentType="application/vnd.openxmlformats-package.relationships+xml"/>
  <Override PartName="/ppt/slideMasters/slideMaster26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0.xml" ContentType="application/vnd.openxmlformats-officedocument.theme+xml"/>
  <Override PartName="/ppt/theme/theme9.xml" ContentType="application/vnd.openxmlformats-officedocument.theme+xml"/>
  <Override PartName="/ppt/theme/theme8.xml" ContentType="application/vnd.openxmlformats-officedocument.theme+xml"/>
  <Override PartName="/ppt/theme/theme7.xml" ContentType="application/vnd.openxmlformats-officedocument.theme+xml"/>
  <Override PartName="/ppt/theme/theme6.xml" ContentType="application/vnd.openxmlformats-officedocument.theme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13.xml" ContentType="application/vnd.openxmlformats-officedocument.theme+xml"/>
  <Override PartName="/ppt/theme/theme3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11.xml" ContentType="application/vnd.openxmlformats-officedocument.theme+xml"/>
  <Override PartName="/ppt/theme/theme1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29.xml" ContentType="application/vnd.openxmlformats-officedocument.theme+xml"/>
  <Override PartName="/ppt/theme/theme17.xml" ContentType="application/vnd.openxmlformats-officedocument.theme+xml"/>
  <Override PartName="/ppt/theme/theme28.xml" ContentType="application/vnd.openxmlformats-officedocument.theme+xml"/>
  <Override PartName="/ppt/theme/theme27.xml" ContentType="application/vnd.openxmlformats-officedocument.theme+xml"/>
  <Override PartName="/ppt/theme/theme26.xml" ContentType="application/vnd.openxmlformats-officedocument.theme+xml"/>
  <Override PartName="/ppt/theme/theme25.xml" ContentType="application/vnd.openxmlformats-officedocument.theme+xml"/>
  <Override PartName="/ppt/theme/theme24.xml" ContentType="application/vnd.openxmlformats-officedocument.theme+xml"/>
  <Override PartName="/ppt/theme/theme23.xml" ContentType="application/vnd.openxmlformats-officedocument.theme+xml"/>
  <Override PartName="/ppt/theme/theme22.xml" ContentType="application/vnd.openxmlformats-officedocument.theme+xml"/>
  <Override PartName="/ppt/theme/theme21.xml" ContentType="application/vnd.openxmlformats-officedocument.theme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18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slides/slide1.xml" ContentType="application/vnd.openxmlformats-officedocument.presentationml.slide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  <p:sldMasterId id="2147483672" r:id="rId14"/>
    <p:sldMasterId id="2147483674" r:id="rId15"/>
    <p:sldMasterId id="2147483676" r:id="rId16"/>
    <p:sldMasterId id="2147483678" r:id="rId17"/>
    <p:sldMasterId id="2147483680" r:id="rId18"/>
    <p:sldMasterId id="2147483682" r:id="rId19"/>
    <p:sldMasterId id="2147483684" r:id="rId20"/>
    <p:sldMasterId id="2147483686" r:id="rId21"/>
    <p:sldMasterId id="2147483688" r:id="rId22"/>
    <p:sldMasterId id="2147483690" r:id="rId23"/>
    <p:sldMasterId id="2147483692" r:id="rId24"/>
    <p:sldMasterId id="2147483694" r:id="rId25"/>
    <p:sldMasterId id="2147483696" r:id="rId26"/>
    <p:sldMasterId id="2147483698" r:id="rId27"/>
    <p:sldMasterId id="2147483700" r:id="rId28"/>
    <p:sldMasterId id="2147483702" r:id="rId29"/>
    <p:sldMasterId id="2147483704" r:id="rId30"/>
  </p:sldMasterIdLst>
  <p:sldIdLst>
    <p:sldId id="256" r:id="rId31"/>
    <p:sldId id="257" r:id="rId32"/>
    <p:sldId id="258" r:id="rId33"/>
    <p:sldId id="259" r:id="rId34"/>
    <p:sldId id="260" r:id="rId35"/>
    <p:sldId id="261" r:id="rId36"/>
    <p:sldId id="262" r:id="rId3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Master" Target="slideMasters/slideMaster13.xml"/><Relationship Id="rId15" Type="http://schemas.openxmlformats.org/officeDocument/2006/relationships/slideMaster" Target="slideMasters/slideMaster14.xml"/><Relationship Id="rId16" Type="http://schemas.openxmlformats.org/officeDocument/2006/relationships/slideMaster" Target="slideMasters/slideMaster15.xml"/><Relationship Id="rId17" Type="http://schemas.openxmlformats.org/officeDocument/2006/relationships/slideMaster" Target="slideMasters/slideMaster16.xml"/><Relationship Id="rId18" Type="http://schemas.openxmlformats.org/officeDocument/2006/relationships/slideMaster" Target="slideMasters/slideMaster17.xml"/><Relationship Id="rId19" Type="http://schemas.openxmlformats.org/officeDocument/2006/relationships/slideMaster" Target="slideMasters/slideMaster18.xml"/><Relationship Id="rId20" Type="http://schemas.openxmlformats.org/officeDocument/2006/relationships/slideMaster" Target="slideMasters/slideMaster19.xml"/><Relationship Id="rId21" Type="http://schemas.openxmlformats.org/officeDocument/2006/relationships/slideMaster" Target="slideMasters/slideMaster20.xml"/><Relationship Id="rId22" Type="http://schemas.openxmlformats.org/officeDocument/2006/relationships/slideMaster" Target="slideMasters/slideMaster21.xml"/><Relationship Id="rId23" Type="http://schemas.openxmlformats.org/officeDocument/2006/relationships/slideMaster" Target="slideMasters/slideMaster22.xml"/><Relationship Id="rId24" Type="http://schemas.openxmlformats.org/officeDocument/2006/relationships/slideMaster" Target="slideMasters/slideMaster23.xml"/><Relationship Id="rId25" Type="http://schemas.openxmlformats.org/officeDocument/2006/relationships/slideMaster" Target="slideMasters/slideMaster24.xml"/><Relationship Id="rId26" Type="http://schemas.openxmlformats.org/officeDocument/2006/relationships/slideMaster" Target="slideMasters/slideMaster25.xml"/><Relationship Id="rId27" Type="http://schemas.openxmlformats.org/officeDocument/2006/relationships/slideMaster" Target="slideMasters/slideMaster26.xml"/><Relationship Id="rId28" Type="http://schemas.openxmlformats.org/officeDocument/2006/relationships/slideMaster" Target="slideMasters/slideMaster27.xml"/><Relationship Id="rId29" Type="http://schemas.openxmlformats.org/officeDocument/2006/relationships/slideMaster" Target="slideMasters/slideMaster28.xml"/><Relationship Id="rId30" Type="http://schemas.openxmlformats.org/officeDocument/2006/relationships/slideMaster" Target="slideMasters/slideMaster29.xml"/><Relationship Id="rId31" Type="http://schemas.openxmlformats.org/officeDocument/2006/relationships/slide" Target="slides/slide1.xml"/><Relationship Id="rId32" Type="http://schemas.openxmlformats.org/officeDocument/2006/relationships/slide" Target="slides/slide2.xml"/><Relationship Id="rId33" Type="http://schemas.openxmlformats.org/officeDocument/2006/relationships/slide" Target="slides/slide3.xml"/><Relationship Id="rId34" Type="http://schemas.openxmlformats.org/officeDocument/2006/relationships/slide" Target="slides/slide4.xml"/><Relationship Id="rId35" Type="http://schemas.openxmlformats.org/officeDocument/2006/relationships/slide" Target="slides/slide5.xml"/><Relationship Id="rId36" Type="http://schemas.openxmlformats.org/officeDocument/2006/relationships/slide" Target="slides/slide6.xml"/><Relationship Id="rId37" Type="http://schemas.openxmlformats.org/officeDocument/2006/relationships/slide" Target="slides/slide7.xml"/><Relationship Id="rId3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3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4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5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6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7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8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9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0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1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3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5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6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7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8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9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100440" y="1204920"/>
            <a:ext cx="8031240" cy="32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A4AE398-45E6-4519-8C00-8DF484E56B0D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2A4A98-D04A-4AE6-81D2-43EFF3339607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DF0A126-A458-49DD-85EA-B6EE8F5DC048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19ABF83-3935-4258-820F-982D56237181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100440" y="1204920"/>
            <a:ext cx="8031240" cy="32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C5A705A-17AF-48D7-A234-CBF96ED6E587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100440" y="1204920"/>
            <a:ext cx="3918960" cy="32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215600" y="1204920"/>
            <a:ext cx="3918960" cy="32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48D370-55CE-41C8-A1DE-51CB706470AC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53D797C6-7A2D-484C-97B8-A9110F86CA03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02806BC8-460B-4C54-9DFD-100F5B63CDC3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06F11D0F-FA0E-4722-A10B-0DB997CFD93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07857933-0254-45BF-8A16-AE076E99FC62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D24EEC3-0289-40DE-AA7D-A7B1EA702F14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ver Intro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47E25B1-47B2-4130-A348-4D08A1F636B5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B753F8C-D549-4B1D-B895-D14F5EB8580F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17B1EAD-63AA-4DAE-8751-AB15A4C2EDF4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line with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3A6A2641-B5F3-4856-915A-DB9507386CAB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6"/>
          </p:nvPr>
        </p:nvSpPr>
        <p:spPr/>
        <p:txBody>
          <a:bodyPr/>
          <a:p>
            <a:fld id="{723E142F-98BE-4B50-AD1C-C37B7B6BFBC0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ll out plus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626C6832-5220-4382-A712-EDE05C684B33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ll out plus image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681A2921-CA3E-4DC0-9116-1F9621209C6F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old chapter break or bold statement gol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9"/>
          </p:nvPr>
        </p:nvSpPr>
        <p:spPr/>
        <p:txBody>
          <a:bodyPr/>
          <a:p>
            <a:fld id="{EAABC477-E795-466D-AC8C-879EF9A75FC4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old chapter break or bold statement go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CE1C60AC-A526-42EA-8DA8-4E2287B21596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00440" y="1204920"/>
            <a:ext cx="8031240" cy="32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2CC5AEE4-C3BF-4C71-AB2D-BDE562BEF56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subTitle"/>
          </p:nvPr>
        </p:nvSpPr>
        <p:spPr>
          <a:xfrm>
            <a:off x="100440" y="1204920"/>
            <a:ext cx="8031240" cy="3201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6707A331-2C8F-47F7-BD1B-F8CE3BB65181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old chapter break or bold statement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5"/>
          </p:nvPr>
        </p:nvSpPr>
        <p:spPr/>
        <p:txBody>
          <a:bodyPr/>
          <a:p>
            <a:fld id="{FB2D08BB-C8AE-4493-8F91-09B7334B3224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hapter break 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41886695-B419-4A11-B580-10658BF163F7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hapter break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ED545F8D-C3BC-4B31-80CD-CFA821943E11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hapter break maroon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8"/>
          </p:nvPr>
        </p:nvSpPr>
        <p:spPr/>
        <p:txBody>
          <a:bodyPr/>
          <a:p>
            <a:fld id="{C29A2408-AFFC-4FDB-957C-FDEA9F3B35F7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line with 3 colum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A8C87E41-939D-4F4D-A987-9501F254D1DC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Headline with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A997C087-FCD0-493E-B36B-8A1F7E43A746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title and 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1"/>
          </p:nvPr>
        </p:nvSpPr>
        <p:spPr/>
        <p:txBody>
          <a:bodyPr/>
          <a:p>
            <a:fld id="{091D238F-EE0E-4BD6-8A03-6F94349561BE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2.xml"/>
</Relationships>
</file>

<file path=ppt/slideMasters/_rels/slideMaster13.xml.rels><?xml version="1.0" encoding="UTF-8"?>
<Relationships xmlns="http://schemas.openxmlformats.org/package/2006/relationships"><Relationship Id="rId1" Type="http://schemas.openxmlformats.org/officeDocument/2006/relationships/theme" Target="../theme/theme13.xml"/><Relationship Id="rId2" Type="http://schemas.openxmlformats.org/officeDocument/2006/relationships/slideLayout" Target="../slideLayouts/slideLayout13.xml"/>
</Relationships>
</file>

<file path=ppt/slideMasters/_rels/slideMaster14.xml.rels><?xml version="1.0" encoding="UTF-8"?>
<Relationships xmlns="http://schemas.openxmlformats.org/package/2006/relationships"><Relationship Id="rId1" Type="http://schemas.openxmlformats.org/officeDocument/2006/relationships/theme" Target="../theme/theme14.xml"/><Relationship Id="rId2" Type="http://schemas.openxmlformats.org/officeDocument/2006/relationships/slideLayout" Target="../slideLayouts/slideLayout14.xml"/>
</Relationships>
</file>

<file path=ppt/slideMasters/_rels/slideMaster15.xml.rels><?xml version="1.0" encoding="UTF-8"?>
<Relationships xmlns="http://schemas.openxmlformats.org/package/2006/relationships"><Relationship Id="rId1" Type="http://schemas.openxmlformats.org/officeDocument/2006/relationships/theme" Target="../theme/theme15.xml"/><Relationship Id="rId2" Type="http://schemas.openxmlformats.org/officeDocument/2006/relationships/slideLayout" Target="../slideLayouts/slideLayout15.xml"/>
</Relationships>
</file>

<file path=ppt/slideMasters/_rels/slideMaster16.xml.rels><?xml version="1.0" encoding="UTF-8"?>
<Relationships xmlns="http://schemas.openxmlformats.org/package/2006/relationships"><Relationship Id="rId1" Type="http://schemas.openxmlformats.org/officeDocument/2006/relationships/theme" Target="../theme/theme16.xml"/><Relationship Id="rId2" Type="http://schemas.openxmlformats.org/officeDocument/2006/relationships/slideLayout" Target="../slideLayouts/slideLayout16.xml"/>
</Relationships>
</file>

<file path=ppt/slideMasters/_rels/slideMaster17.xml.rels><?xml version="1.0" encoding="UTF-8"?>
<Relationships xmlns="http://schemas.openxmlformats.org/package/2006/relationships"><Relationship Id="rId1" Type="http://schemas.openxmlformats.org/officeDocument/2006/relationships/theme" Target="../theme/theme17.xml"/><Relationship Id="rId2" Type="http://schemas.openxmlformats.org/officeDocument/2006/relationships/slideLayout" Target="../slideLayouts/slideLayout17.xml"/>
</Relationships>
</file>

<file path=ppt/slideMasters/_rels/slideMaster18.xml.rels><?xml version="1.0" encoding="UTF-8"?>
<Relationships xmlns="http://schemas.openxmlformats.org/package/2006/relationships"><Relationship Id="rId1" Type="http://schemas.openxmlformats.org/officeDocument/2006/relationships/theme" Target="../theme/theme18.xml"/><Relationship Id="rId2" Type="http://schemas.openxmlformats.org/officeDocument/2006/relationships/slideLayout" Target="../slideLayouts/slideLayout18.xml"/>
</Relationships>
</file>

<file path=ppt/slideMasters/_rels/slideMaster19.xml.rels><?xml version="1.0" encoding="UTF-8"?>
<Relationships xmlns="http://schemas.openxmlformats.org/package/2006/relationships"><Relationship Id="rId1" Type="http://schemas.openxmlformats.org/officeDocument/2006/relationships/theme" Target="../theme/theme19.xml"/><Relationship Id="rId2" Type="http://schemas.openxmlformats.org/officeDocument/2006/relationships/slideLayout" Target="../slideLayouts/slideLayout19.xml"/>
</Relationships>
</file>

<file path=ppt/slideMasters/_rels/slideMaster20.xml.rels><?xml version="1.0" encoding="UTF-8"?>
<Relationships xmlns="http://schemas.openxmlformats.org/package/2006/relationships"><Relationship Id="rId1" Type="http://schemas.openxmlformats.org/officeDocument/2006/relationships/theme" Target="../theme/theme20.xml"/><Relationship Id="rId2" Type="http://schemas.openxmlformats.org/officeDocument/2006/relationships/slideLayout" Target="../slideLayouts/slideLayout20.xml"/>
</Relationships>
</file>

<file path=ppt/slideMasters/_rels/slideMaster21.xml.rels><?xml version="1.0" encoding="UTF-8"?>
<Relationships xmlns="http://schemas.openxmlformats.org/package/2006/relationships"><Relationship Id="rId1" Type="http://schemas.openxmlformats.org/officeDocument/2006/relationships/theme" Target="../theme/theme21.xml"/><Relationship Id="rId2" Type="http://schemas.openxmlformats.org/officeDocument/2006/relationships/slideLayout" Target="../slideLayouts/slideLayout21.xml"/>
</Relationships>
</file>

<file path=ppt/slideMasters/_rels/slideMaster22.xml.rels><?xml version="1.0" encoding="UTF-8"?>
<Relationships xmlns="http://schemas.openxmlformats.org/package/2006/relationships"><Relationship Id="rId1" Type="http://schemas.openxmlformats.org/officeDocument/2006/relationships/theme" Target="../theme/theme22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22.xml"/>
</Relationships>
</file>

<file path=ppt/slideMasters/_rels/slideMaster23.xml.rels><?xml version="1.0" encoding="UTF-8"?>
<Relationships xmlns="http://schemas.openxmlformats.org/package/2006/relationships"><Relationship Id="rId1" Type="http://schemas.openxmlformats.org/officeDocument/2006/relationships/theme" Target="../theme/theme23.xml"/><Relationship Id="rId2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4.xml"/><Relationship Id="rId2" Type="http://schemas.openxmlformats.org/officeDocument/2006/relationships/slideLayout" Target="../slideLayouts/slideLayout24.xml"/>
</Relationships>
</file>

<file path=ppt/slideMasters/_rels/slideMaster25.xml.rels><?xml version="1.0" encoding="UTF-8"?>
<Relationships xmlns="http://schemas.openxmlformats.org/package/2006/relationships"><Relationship Id="rId1" Type="http://schemas.openxmlformats.org/officeDocument/2006/relationships/theme" Target="../theme/theme25.xml"/><Relationship Id="rId2" Type="http://schemas.openxmlformats.org/officeDocument/2006/relationships/slideLayout" Target="../slideLayouts/slideLayout25.xml"/>
</Relationships>
</file>

<file path=ppt/slideMasters/_rels/slideMaster26.xml.rels><?xml version="1.0" encoding="UTF-8"?>
<Relationships xmlns="http://schemas.openxmlformats.org/package/2006/relationships"><Relationship Id="rId1" Type="http://schemas.openxmlformats.org/officeDocument/2006/relationships/theme" Target="../theme/theme26.xml"/><Relationship Id="rId2" Type="http://schemas.openxmlformats.org/officeDocument/2006/relationships/slideLayout" Target="../slideLayouts/slideLayout26.xml"/>
</Relationships>
</file>

<file path=ppt/slideMasters/_rels/slideMaster27.xml.rels><?xml version="1.0" encoding="UTF-8"?>
<Relationships xmlns="http://schemas.openxmlformats.org/package/2006/relationships"><Relationship Id="rId1" Type="http://schemas.openxmlformats.org/officeDocument/2006/relationships/theme" Target="../theme/theme27.xml"/><Relationship Id="rId2" Type="http://schemas.openxmlformats.org/officeDocument/2006/relationships/slideLayout" Target="../slideLayouts/slideLayout27.xml"/>
</Relationships>
</file>

<file path=ppt/slideMasters/_rels/slideMaster28.xml.rels><?xml version="1.0" encoding="UTF-8"?>
<Relationships xmlns="http://schemas.openxmlformats.org/package/2006/relationships"><Relationship Id="rId1" Type="http://schemas.openxmlformats.org/officeDocument/2006/relationships/theme" Target="../theme/theme28.xml"/><Relationship Id="rId2" Type="http://schemas.openxmlformats.org/officeDocument/2006/relationships/slideLayout" Target="../slideLayouts/slideLayout28.xml"/>
</Relationships>
</file>

<file path=ppt/slideMasters/_rels/slideMaster29.xml.rels><?xml version="1.0" encoding="UTF-8"?>
<Relationships xmlns="http://schemas.openxmlformats.org/package/2006/relationships"><Relationship Id="rId1" Type="http://schemas.openxmlformats.org/officeDocument/2006/relationships/theme" Target="../theme/theme29.xml"/><Relationship Id="rId2" Type="http://schemas.openxmlformats.org/officeDocument/2006/relationships/slideLayout" Target="../slideLayouts/slideLayout2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13BD9D-32D7-46A7-B97C-A27793C6F69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</a:t>
            </a: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3B04726-0EA7-49EF-93A3-E65868EDA5EA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B2F558B-989E-4BF0-92A1-A0974C5FD89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ldNum" idx="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2475784-F06E-4CA3-BA8A-B85BCC18295C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sldNum" idx="5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BBC7E97-7906-4CC0-8025-6B3043E57A45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sldNum" idx="6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721FCB-D3F3-4906-A4A0-7329FA91C30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E0C9F7-9D7E-41F9-98DD-D24AEC117324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34DFF54-7B3B-4041-B521-2CA6A9FDCD01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9C95C0A-C48A-4C27-96C3-911E034DAAC7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59ADCA3-0B1B-4C70-97EC-D378EC16EB72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1E6BB26-B11C-46A8-9729-96B655038A20}" type="slidenum">
              <a:rPr b="0" lang="en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311760" y="12834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" name="Google Shape;57;p14" descr=""/>
          <p:cNvPicPr/>
          <p:nvPr/>
        </p:nvPicPr>
        <p:blipFill>
          <a:blip r:embed="rId2"/>
          <a:stretch/>
        </p:blipFill>
        <p:spPr>
          <a:xfrm>
            <a:off x="167400" y="3799440"/>
            <a:ext cx="3464280" cy="961200"/>
          </a:xfrm>
          <a:prstGeom prst="rect">
            <a:avLst/>
          </a:prstGeom>
          <a:ln w="0">
            <a:noFill/>
          </a:ln>
        </p:spPr>
      </p:pic>
      <p:sp>
        <p:nvSpPr>
          <p:cNvPr id="38" name="PlaceHolder 2"/>
          <p:cNvSpPr>
            <a:spLocks noGrp="1"/>
          </p:cNvSpPr>
          <p:nvPr>
            <p:ph type="sldNum" idx="1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6250EEA-F937-483A-92AB-7EFA3A4D3EA4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3"/>
  </p:sldLayoutIdLst>
</p:sldMaster>
</file>

<file path=ppt/slideMasters/slideMaster1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Google Shape;98;p23"/>
          <p:cNvSpPr/>
          <p:nvPr/>
        </p:nvSpPr>
        <p:spPr>
          <a:xfrm>
            <a:off x="-19080" y="1760040"/>
            <a:ext cx="9162720" cy="34383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ldNum" idx="1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D203B0-3DD7-4782-BB78-FE5EE57603A1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3" r:id="rId2"/>
  </p:sldLayoutIdLst>
</p:sldMaster>
</file>

<file path=ppt/slideMasters/slideMaster1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100440" y="1204920"/>
            <a:ext cx="8031240" cy="32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sldNum" idx="1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56F8D29-67F7-4FDA-9C45-970A0705541E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</p:sldLayoutIdLst>
</p:sldMaster>
</file>

<file path=ppt/slideMasters/slideMaster1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6215400" y="1163160"/>
            <a:ext cx="2403360" cy="32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3274560" y="1184760"/>
            <a:ext cx="2403360" cy="32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body"/>
          </p:nvPr>
        </p:nvSpPr>
        <p:spPr>
          <a:xfrm>
            <a:off x="405360" y="1204920"/>
            <a:ext cx="2403360" cy="32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sldNum" idx="1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AF0D811-DE95-453C-A17B-68480BC33BEA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7" r:id="rId2"/>
  </p:sldLayoutIdLst>
</p:sldMaster>
</file>

<file path=ppt/slideMasters/slideMaster1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11307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dit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sldNum" idx="1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7ECAFFF4-0373-4E77-BF5D-4113C92AA7F2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9" r:id="rId2"/>
  </p:sldLayoutIdLst>
</p:sldMaster>
</file>

<file path=ppt/slideMasters/slideMaster1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218880" y="228960"/>
            <a:ext cx="1860120" cy="233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sldNum" idx="1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3D93693-281D-4ACB-A11B-E5C2278248E5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1" r:id="rId2"/>
  </p:sldLayoutIdLst>
</p:sldMaster>
</file>

<file path=ppt/slideMasters/slideMaster1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18880" y="228960"/>
            <a:ext cx="1860120" cy="233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edit the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ldNum" idx="1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5E6D531-09C3-4442-AD0E-30FB04376750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3" r:id="rId2"/>
  </p:sldLayoutIdLst>
</p:sldMaster>
</file>

<file path=ppt/slideMasters/slideMaster1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311760" y="128340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Cl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ic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dit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fo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72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1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3F63008-13D0-48E2-912D-888016041D16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5" r:id="rId2"/>
  </p:sldLayoutIdLst>
</p:sldMaster>
</file>

<file path=ppt/slideMasters/slideMaster2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826200"/>
            <a:ext cx="62460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ed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6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sldNum" idx="2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5EBF5EE9-F425-483D-A514-43C298BA70F6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7" r:id="rId2"/>
  </p:sldLayoutIdLst>
</p:sldMaster>
</file>

<file path=ppt/slideMasters/slideMaster2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rm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to 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28560" y="1369080"/>
            <a:ext cx="7886520" cy="289476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dt" idx="21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ftr" idx="22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sldNum" idx="23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 w="0">
            <a:noFill/>
          </a:ln>
        </p:spPr>
        <p:txBody>
          <a:bodyPr lIns="68400" rIns="68400" tIns="34200" bIns="342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C36AB7E-176E-452F-9CDA-42111989A9EC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Google Shape;133;p31"/>
          <p:cNvSpPr/>
          <p:nvPr/>
        </p:nvSpPr>
        <p:spPr>
          <a:xfrm>
            <a:off x="7870680" y="0"/>
            <a:ext cx="635400" cy="267480"/>
          </a:xfrm>
          <a:custGeom>
            <a:avLst/>
            <a:gdLst>
              <a:gd name="textAreaLeft" fmla="*/ 0 w 635400"/>
              <a:gd name="textAreaRight" fmla="*/ 635760 w 635400"/>
              <a:gd name="textAreaTop" fmla="*/ 0 h 267480"/>
              <a:gd name="textAreaBottom" fmla="*/ 267840 h 267480"/>
            </a:gdLst>
            <a:ahLst/>
            <a:rect l="textAreaLeft" t="textAreaTop" r="textAreaRight" b="textAreaBottom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134;p31"/>
          <p:cNvSpPr/>
          <p:nvPr/>
        </p:nvSpPr>
        <p:spPr>
          <a:xfrm flipH="1">
            <a:off x="92520" y="4288320"/>
            <a:ext cx="1328400" cy="854640"/>
          </a:xfrm>
          <a:custGeom>
            <a:avLst/>
            <a:gdLst>
              <a:gd name="textAreaLeft" fmla="*/ 360 w 1328400"/>
              <a:gd name="textAreaRight" fmla="*/ 1329120 w 1328400"/>
              <a:gd name="textAreaTop" fmla="*/ 0 h 854640"/>
              <a:gd name="textAreaBottom" fmla="*/ 855000 h 854640"/>
            </a:gdLst>
            <a:ahLst/>
            <a:rect l="textAreaLeft" t="textAreaTop" r="textAreaRight" b="textAreaBottom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9" r:id="rId2"/>
  </p:sldLayoutIdLst>
</p:sldMaster>
</file>

<file path=ppt/slideMasters/slideMaster2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311760" y="21160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edi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tex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Google Shape;62;p15" descr="ASU_Horiz_RGB_Digital_MaroonGold.png"/>
          <p:cNvPicPr/>
          <p:nvPr/>
        </p:nvPicPr>
        <p:blipFill>
          <a:blip r:embed="rId2"/>
          <a:stretch/>
        </p:blipFill>
        <p:spPr>
          <a:xfrm>
            <a:off x="245160" y="187200"/>
            <a:ext cx="3844800" cy="1066680"/>
          </a:xfrm>
          <a:prstGeom prst="rect">
            <a:avLst/>
          </a:prstGeom>
          <a:ln w="0">
            <a:noFill/>
          </a:ln>
        </p:spPr>
      </p:pic>
      <p:sp>
        <p:nvSpPr>
          <p:cNvPr id="72" name="PlaceHolder 2"/>
          <p:cNvSpPr>
            <a:spLocks noGrp="1"/>
          </p:cNvSpPr>
          <p:nvPr>
            <p:ph type="sldNum" idx="2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A06A3E9-C2A1-48D2-96EF-6FBE5F3E58A4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1" r:id="rId3"/>
  </p:sldLayoutIdLst>
</p:sldMaster>
</file>

<file path=ppt/slideMasters/slideMaster2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311760" y="826200"/>
            <a:ext cx="624600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ed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th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titl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te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xt 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62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6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sldNum" idx="2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F7237A6-EEBB-4BC8-92BC-63A5DCC4E123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3" r:id="rId2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64040" y="2045160"/>
            <a:ext cx="2787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69;p17"/>
          <p:cNvSpPr/>
          <p:nvPr/>
        </p:nvSpPr>
        <p:spPr>
          <a:xfrm>
            <a:off x="3665160" y="371520"/>
            <a:ext cx="1056960" cy="353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34200" bIns="342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22500" spc="-1" strike="noStrike">
                <a:solidFill>
                  <a:schemeClr val="accent1"/>
                </a:solidFill>
                <a:latin typeface="Arial"/>
                <a:ea typeface="Arial"/>
              </a:rPr>
              <a:t>{</a:t>
            </a:r>
            <a:endParaRPr b="0" lang="en-US" sz="22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sldNum" idx="2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F279C2A-67ED-4471-BA37-4566EBF83FA2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5" r:id="rId2"/>
  </p:sldLayoutIdLst>
</p:sldMaster>
</file>

<file path=ppt/slideMasters/slideMaster2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73;p18"/>
          <p:cNvSpPr/>
          <p:nvPr/>
        </p:nvSpPr>
        <p:spPr>
          <a:xfrm>
            <a:off x="0" y="1314360"/>
            <a:ext cx="9143640" cy="154296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381960" y="1600200"/>
            <a:ext cx="811260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ck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to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for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ma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ldNum" idx="2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8857166-4857-48C7-87BE-3113F2D06C7D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7" r:id="rId2"/>
  </p:sldLayoutIdLst>
</p:sldMaster>
</file>

<file path=ppt/slideMasters/slideMaster2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77;p19"/>
          <p:cNvSpPr/>
          <p:nvPr/>
        </p:nvSpPr>
        <p:spPr>
          <a:xfrm>
            <a:off x="0" y="1314360"/>
            <a:ext cx="9143640" cy="154296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2040" rIns="122040" tIns="60840" bIns="6084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381960" y="1600200"/>
            <a:ext cx="8112600" cy="102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li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k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o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it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h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ti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tl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e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x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 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f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m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28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B7CDD31-A540-4F3D-95D3-430D1CE4A743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99" r:id="rId2"/>
  </p:sldLayoutIdLst>
</p:sldMaster>
</file>

<file path=ppt/slideMasters/slideMaster2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body"/>
          </p:nvPr>
        </p:nvSpPr>
        <p:spPr>
          <a:xfrm>
            <a:off x="6215400" y="1163160"/>
            <a:ext cx="2403360" cy="32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body"/>
          </p:nvPr>
        </p:nvSpPr>
        <p:spPr>
          <a:xfrm>
            <a:off x="3274560" y="1184760"/>
            <a:ext cx="2403360" cy="32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body"/>
          </p:nvPr>
        </p:nvSpPr>
        <p:spPr>
          <a:xfrm>
            <a:off x="405360" y="1204920"/>
            <a:ext cx="2403360" cy="32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 type="sldNum" idx="29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D847473-6A5B-4E93-8EB6-20EE5653D457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</p:sldLayoutIdLst>
</p:sldMaster>
</file>

<file path=ppt/slideMasters/slideMaster2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311760" y="1204920"/>
            <a:ext cx="7819920" cy="3201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sldNum" idx="30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A2711A8-45CD-43DA-8DB8-F242237D897F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3" r:id="rId2"/>
  </p:sldLayoutIdLst>
</p:sldMaster>
</file>

<file path=ppt/slideMasters/slideMaster2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1;p22"/>
          <p:cNvSpPr/>
          <p:nvPr/>
        </p:nvSpPr>
        <p:spPr>
          <a:xfrm>
            <a:off x="4572000" y="-134640"/>
            <a:ext cx="4571640" cy="527760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31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1A54DE-AEE3-44BC-B950-CDE204622628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5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311760" y="2183040"/>
            <a:ext cx="8520120" cy="62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1" i="1" lang="en" sz="2900" spc="-1" strike="noStrike">
                <a:solidFill>
                  <a:schemeClr val="dk1"/>
                </a:solidFill>
                <a:latin typeface="Arial"/>
                <a:ea typeface="Arial"/>
              </a:rPr>
              <a:t>WildToolBench Evaluation Enhancements: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i="1" lang="en" sz="2900" spc="-1" strike="noStrike">
                <a:solidFill>
                  <a:schemeClr val="dk1"/>
                </a:solidFill>
                <a:latin typeface="Arial"/>
                <a:ea typeface="Arial"/>
              </a:rPr>
              <a:t>Improving LLM Tool-Use Through Harness-Level Interventions</a:t>
            </a:r>
            <a:endParaRPr b="0" lang="en-US" sz="2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 type="subTitle"/>
          </p:nvPr>
        </p:nvSpPr>
        <p:spPr>
          <a:xfrm>
            <a:off x="311760" y="2873520"/>
            <a:ext cx="815112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1700" spc="-1" strike="noStrike">
                <a:solidFill>
                  <a:srgbClr val="000000"/>
                </a:solidFill>
                <a:latin typeface="Arial"/>
                <a:ea typeface="Arial"/>
              </a:rPr>
              <a:t>Hector Hernandez  ·  Vardaan Gangal  ·  Harish Chaurasia  ·  Venkata Sai Ganesh Manda  ·  Smit Lagdhirbhai Desai Name &amp; Group Name </a:t>
            </a:r>
            <a:endParaRPr b="0" lang="en-US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chemeClr val="dk1"/>
                </a:solidFill>
                <a:highlight>
                  <a:srgbClr val="ffc627"/>
                </a:highlight>
                <a:latin typeface="Arial"/>
                <a:ea typeface="Arial"/>
              </a:rPr>
              <a:t>Abstract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Google Shape;146;p33"/>
          <p:cNvSpPr/>
          <p:nvPr/>
        </p:nvSpPr>
        <p:spPr>
          <a:xfrm>
            <a:off x="311040" y="1051560"/>
            <a:ext cx="8521920" cy="176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WildToolBench is a multi-turn tool-use benchmark: 256 sessions, 1,024 tasks, 4 turns/session.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Baseline evaluation of four open-weight models (Qwen3-8B/14B/32B, Gemma4-31B) identified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three dominant failure modes: Wrong Arguments (20-28%), Instruction Transition (20-22%),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and Coreference Failure (18-20%). We implemented three harness-level interventions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requiring no model retraining: (1) Enhanced System Prompt, (2) Argument Tolerance Layer,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and (3) Coreference Resolution Context Injection.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Arial"/>
                <a:ea typeface="Arial"/>
              </a:rPr>
              <a:t>Enhanced evaluation (v2) results shown below: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sldNum" idx="32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354CF6F-B8D2-4853-88FF-A3C40E17618B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04" name="Table 147"/>
          <p:cNvGraphicFramePr/>
          <p:nvPr/>
        </p:nvGraphicFramePr>
        <p:xfrm>
          <a:off x="311040" y="2926080"/>
          <a:ext cx="7817760" cy="1500120"/>
        </p:xfrm>
        <a:graphic>
          <a:graphicData uri="http://schemas.openxmlformats.org/drawingml/2006/table">
            <a:tbl>
              <a:tblPr/>
              <a:tblGrid>
                <a:gridCol w="1417320"/>
                <a:gridCol w="1143000"/>
                <a:gridCol w="1143000"/>
                <a:gridCol w="914400"/>
                <a:gridCol w="1143000"/>
                <a:gridCol w="1143000"/>
                <a:gridCol w="914400"/>
              </a:tblGrid>
              <a:tr h="27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Task Acc (v1)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Task Acc (v2)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Task Delta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Session Acc (v1)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Session Acc (v2)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Session Delta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Qwen3-8B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40.8%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53.3%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+12.5pp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2.7%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10.2%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+7.5pp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Qwen3-14B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44.2%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55.2%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+11.0pp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3.5%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+7.8pp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Qwen3-32B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44.1%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54.5%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+10.4pp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4.3%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7.8%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+3.5pp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7432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Gemma4-31B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52.0%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56.7%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+4.7pp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9.0%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+2.3pp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chemeClr val="dk1"/>
                </a:solidFill>
                <a:highlight>
                  <a:srgbClr val="ffc627"/>
                </a:highlight>
                <a:latin typeface="Arial"/>
                <a:ea typeface="Arial"/>
              </a:rPr>
              <a:t>Introduction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53;p34"/>
          <p:cNvSpPr/>
          <p:nvPr/>
        </p:nvSpPr>
        <p:spPr>
          <a:xfrm>
            <a:off x="311040" y="1143000"/>
            <a:ext cx="4160160" cy="25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WildToolBench Benchmark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- 256 sessions | 1,024 tasks | 4 turns/session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Types: Single-Tool, Parallel/Sequential/Mixed Multi-Tool, Clarify, Chat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Subtypes: First Turn, Coreferential Reference,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Partial Information, Long-Range Dependency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Research Question: Can harness-level interventions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(no model changes) improve scores by addressing the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top failure modes identified in baseline evaluation?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Key Observation: No model exceeded 10% session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accuracy at baseline. 394 tasks (38.5%) were failed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by ALL models — confirming benchmark difficulty.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ldNum" idx="33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EE99EF29-AB03-4BB8-A3D9-40BAEE2063B7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08" name="Table 154"/>
          <p:cNvGraphicFramePr/>
          <p:nvPr/>
        </p:nvGraphicFramePr>
        <p:xfrm>
          <a:off x="371520" y="3670200"/>
          <a:ext cx="4160160" cy="1279800"/>
        </p:xfrm>
        <a:graphic>
          <a:graphicData uri="http://schemas.openxmlformats.org/drawingml/2006/table">
            <a:tbl>
              <a:tblPr/>
              <a:tblGrid>
                <a:gridCol w="1600200"/>
                <a:gridCol w="1280160"/>
                <a:gridCol w="1280160"/>
              </a:tblGrid>
              <a:tr h="-12708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Task Acc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1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Session Acc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Qwen3-8B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40.8%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2.7%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Qwen3-14B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44.2%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3.5%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Qwen3-32B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44.1%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4.3%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Gemma4-31B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52.0%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1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9.0%</a:t>
                      </a:r>
                      <a:endParaRPr b="0" lang="en-US" sz="11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09" name="Picture 155" descr="06_total_failures.png"/>
          <p:cNvPicPr/>
          <p:nvPr/>
        </p:nvPicPr>
        <p:blipFill>
          <a:blip r:embed="rId1"/>
          <a:stretch/>
        </p:blipFill>
        <p:spPr>
          <a:xfrm>
            <a:off x="4617720" y="1097280"/>
            <a:ext cx="4297320" cy="1828440"/>
          </a:xfrm>
          <a:prstGeom prst="rect">
            <a:avLst/>
          </a:prstGeom>
          <a:ln w="0">
            <a:noFill/>
          </a:ln>
        </p:spPr>
      </p:pic>
      <p:pic>
        <p:nvPicPr>
          <p:cNvPr id="110" name="Picture 156" descr="01_taxonomy_distribution.png"/>
          <p:cNvPicPr/>
          <p:nvPr/>
        </p:nvPicPr>
        <p:blipFill>
          <a:blip r:embed="rId2"/>
          <a:stretch/>
        </p:blipFill>
        <p:spPr>
          <a:xfrm>
            <a:off x="4617720" y="3017520"/>
            <a:ext cx="4297320" cy="1919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chemeClr val="dk1"/>
                </a:solidFill>
                <a:highlight>
                  <a:srgbClr val="ffc627"/>
                </a:highlight>
                <a:latin typeface="Arial"/>
                <a:ea typeface="Arial"/>
              </a:rPr>
              <a:t>Method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60;p35"/>
          <p:cNvSpPr/>
          <p:nvPr/>
        </p:nvSpPr>
        <p:spPr>
          <a:xfrm>
            <a:off x="311040" y="1143000"/>
            <a:ext cx="8521920" cy="37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Change 1: Enhanced System Prompt  [base_handler.py - _build_system_prompt]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Problem: Models only received 'Current Date: {timestamp}' — no intent-routing guidance.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Fix: Structured instructions: (a) tool/clarify/chat routing rules, (b) argument precision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(no hallucination), (c) parallel vs sequential multi-step planning,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(d) context resolution from conversation history.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Targets: Instruction Transition (22.5%), Unnecessary Tool Call (15.6%), Missing Tool Call (9.0%)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Change 2: Argument Tolerance / Normalization Layer  [checker_utils.py]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Problem: 780 'args keys mismatch' failures — models added valid optional params not in ground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truth. Date '2024-7-13' vs '2024-07-13' scored as 0.00 rouge. Numeric type mismatches.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Fix: (a) Tolerate extra keys that are valid optional schema properties.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(b) _normalize_date(): canonicalize to YYYY-MM-DD with zero-padding.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(c) _try_numeric_coerce(): treat '100' (str) and 100 (int) as equivalent.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Targets: Wrong Arguments (20-28%) — the single largest failure category (780 cases)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Change 3: Coreference Resolution Context Injection  [base_handler.py - _build_context_summary]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Problem: 18-20% coreference failures on 'that location', 'the same date', 'this record'.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Size-independent: flat 18-20% across 8B to 32B — cannot be fixed by scaling alone.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Fix: Prepend '[Context from prior turns: city=Chicago, startDate=2024-07-13, ...]' before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each subsequent turn (top 20 entities extracted from all prior tool call arguments).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Targets: Coreference Failure (18-20%), Long-Range Dependency turns (28-40% accuracy)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sldNum" idx="34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25C6ABC-B301-4048-AF14-1B65D093EA81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chemeClr val="dk1"/>
                </a:solidFill>
                <a:highlight>
                  <a:srgbClr val="ffc627"/>
                </a:highlight>
                <a:latin typeface="Arial"/>
                <a:ea typeface="Arial"/>
              </a:rPr>
              <a:t>Experiments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Google Shape;167;p36"/>
          <p:cNvSpPr/>
          <p:nvPr/>
        </p:nvSpPr>
        <p:spPr>
          <a:xfrm>
            <a:off x="311040" y="1097280"/>
            <a:ext cx="484596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  <a:ea typeface="Arial"/>
              </a:rPr>
              <a:t>Overall Accuracy — Baseline vs. Enhanced (v2)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sldNum" idx="35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28003AD-43AE-4DA3-94F6-23363FE3E32C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17" name="Table 168"/>
          <p:cNvGraphicFramePr/>
          <p:nvPr/>
        </p:nvGraphicFramePr>
        <p:xfrm>
          <a:off x="153720" y="1484640"/>
          <a:ext cx="5193360" cy="1279800"/>
        </p:xfrm>
        <a:graphic>
          <a:graphicData uri="http://schemas.openxmlformats.org/drawingml/2006/table">
            <a:tbl>
              <a:tblPr/>
              <a:tblGrid>
                <a:gridCol w="1188720"/>
                <a:gridCol w="658080"/>
                <a:gridCol w="658080"/>
                <a:gridCol w="685800"/>
                <a:gridCol w="658080"/>
                <a:gridCol w="658080"/>
                <a:gridCol w="685800"/>
              </a:tblGrid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Model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Task v1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Task v2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Task +/-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Sess v1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Sess v2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Sess +/-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Qwen3-8B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40.8%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53.3%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+12.5pp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2.7%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10.2%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+7.5pp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Qwen3-14B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44.2%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55.2%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+11.0pp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3.5%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11.3%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+7.8pp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Qwen3-32B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44.1%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54.5%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+10.4pp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4.3%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7.8%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+3.5pp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5596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Gemma4-31B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52.0%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56.7%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+4.7pp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9.0%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11.3%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+2.3pp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8" name="Table 169"/>
          <p:cNvGraphicFramePr/>
          <p:nvPr/>
        </p:nvGraphicFramePr>
        <p:xfrm>
          <a:off x="311040" y="2788920"/>
          <a:ext cx="4370400" cy="1855080"/>
        </p:xfrm>
        <a:graphic>
          <a:graphicData uri="http://schemas.openxmlformats.org/drawingml/2006/table">
            <a:tbl>
              <a:tblPr/>
              <a:tblGrid>
                <a:gridCol w="2103120"/>
                <a:gridCol w="777240"/>
                <a:gridCol w="777240"/>
                <a:gridCol w="713160"/>
              </a:tblGrid>
              <a:tr h="246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Task Type (Gemma4-31B)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Baseline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Enhanced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1" lang="en-US" sz="1000" spc="-1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</a:rPr>
                        <a:t>Delta</a:t>
                      </a:r>
                      <a:endParaRPr b="0" lang="en-US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1f4e79"/>
                    </a:solidFill>
                  </a:tcPr>
                </a:tc>
              </a:tr>
              <a:tr h="246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Single-Tool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52.2%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60.2%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+8.0pp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46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Parallel Multi-Tool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49.7%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53.8%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+4.1pp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Sequential Multi-Tool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18.8%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25.0%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+6.2pp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46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Mixed Multi-Tool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19.3%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28.6%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+9.3pp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246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Clarify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37.3%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40.6%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+3.3pp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2f2f2"/>
                    </a:solidFill>
                  </a:tcPr>
                </a:tc>
              </a:tr>
              <a:tr h="246600"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Chat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80.5%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82.4%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b="0" lang="en-US" sz="1000" spc="-1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</a:rPr>
                        <a:t>+1.9pp</a:t>
                      </a:r>
                      <a:endParaRPr b="0" lang="en-US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1440" marR="91440">
                    <a:lnL w="9360">
                      <a:solidFill>
                        <a:srgbClr val="1f4e79"/>
                      </a:solidFill>
                      <a:prstDash val="solid"/>
                    </a:lnL>
                    <a:lnR w="9360">
                      <a:solidFill>
                        <a:srgbClr val="1f4e79"/>
                      </a:solidFill>
                      <a:prstDash val="solid"/>
                    </a:lnR>
                    <a:lnT w="9360">
                      <a:solidFill>
                        <a:srgbClr val="1f4e79"/>
                      </a:solidFill>
                      <a:prstDash val="solid"/>
                    </a:lnT>
                    <a:lnB w="9360">
                      <a:solidFill>
                        <a:srgbClr val="1f4e7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9" name="Picture 170" descr="02_errors_by_model.png"/>
          <p:cNvPicPr/>
          <p:nvPr/>
        </p:nvPicPr>
        <p:blipFill>
          <a:blip r:embed="rId1"/>
          <a:stretch/>
        </p:blipFill>
        <p:spPr>
          <a:xfrm>
            <a:off x="5276160" y="1143000"/>
            <a:ext cx="3702960" cy="3702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chemeClr val="dk1"/>
                </a:solidFill>
                <a:highlight>
                  <a:srgbClr val="ffc627"/>
                </a:highlight>
                <a:latin typeface="Arial"/>
                <a:ea typeface="Arial"/>
              </a:rPr>
              <a:t>Findings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174;p37"/>
          <p:cNvSpPr/>
          <p:nvPr/>
        </p:nvSpPr>
        <p:spPr>
          <a:xfrm>
            <a:off x="311040" y="1143000"/>
            <a:ext cx="4251600" cy="48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Finding 1: Argument Tolerance — largest single impact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780 'args keys mismatch' cases were structurally unfair — models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correctly understood the task but included valid optional params.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The tolerance layer recovered real accuracy, not relaxed scoring.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Finding 2: Smaller models benefited most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Qwen3-8B gained +12.5pp task / +7.5pp session accuracy.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All models now exceed 53% task accuracy (vs 40-52% baseline).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Diminishing returns on Gemma4-31B (+4.7pp) — it already handled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most tolerance-related failures correctly.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Finding 3: Long-Range Dependency improved most dramatically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Qwen3-8B: 28.5%-&gt;40.9% (+12.4pp). Gemma4: 39.9%-&gt;46.4% (+6.5pp).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Context injection directly targeted this turn subtype.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Finding 4: Session accuracy multiplied 3-4x for Qwen3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Qwen3-14B: 3.5%-&gt;11.3%; Qwen3-8B: 2.7%-&gt;10.2%.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Per-turn improvements compound at the session level.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Finding 5: Chat accuracy did not regress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Qwen3-14B: 88.1%-&gt;90.5%. Enhanced prompt correctly routes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conversational turns without introducing unnecessary tool calls.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sldNum" idx="36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3719DAE-DAB1-41F5-B6AF-7DA3DE3D8728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3" name="Picture 175" descr="05_failure_heatmap.png"/>
          <p:cNvPicPr/>
          <p:nvPr/>
        </p:nvPicPr>
        <p:blipFill>
          <a:blip r:embed="rId1"/>
          <a:stretch/>
        </p:blipFill>
        <p:spPr>
          <a:xfrm>
            <a:off x="4663440" y="1097280"/>
            <a:ext cx="4297320" cy="1965600"/>
          </a:xfrm>
          <a:prstGeom prst="rect">
            <a:avLst/>
          </a:prstGeom>
          <a:ln w="0">
            <a:noFill/>
          </a:ln>
        </p:spPr>
      </p:pic>
      <p:pic>
        <p:nvPicPr>
          <p:cNvPr id="124" name="Picture 176" descr="03_scaling_per_category.png"/>
          <p:cNvPicPr/>
          <p:nvPr/>
        </p:nvPicPr>
        <p:blipFill>
          <a:blip r:embed="rId2"/>
          <a:stretch/>
        </p:blipFill>
        <p:spPr>
          <a:xfrm>
            <a:off x="4663440" y="3108960"/>
            <a:ext cx="4297320" cy="1782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2700" spc="-1" strike="noStrike">
                <a:solidFill>
                  <a:schemeClr val="dk1"/>
                </a:solidFill>
                <a:highlight>
                  <a:srgbClr val="ffc627"/>
                </a:highlight>
                <a:latin typeface="Arial"/>
                <a:ea typeface="Arial"/>
              </a:rPr>
              <a:t>Conclusion</a:t>
            </a:r>
            <a:endParaRPr b="0" lang="en-US" sz="2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81;p38"/>
          <p:cNvSpPr/>
          <p:nvPr/>
        </p:nvSpPr>
        <p:spPr>
          <a:xfrm>
            <a:off x="311040" y="1143000"/>
            <a:ext cx="4480200" cy="420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Summary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Three harness-level interventions produced task accuracy gains of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+4.7 to +12.5 pp and session accuracy gains of +2.3 to +7.8 pp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across all four models — with no model retraining required.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What Worked Best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Argument Tolerance (Change 2): Largest impact. 780 'keys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mismatch' failures recovered real accuracy, not relaxed scoring.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Coreference Injection (Change 3): Drove Long-Range Dependency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gains (Turn 0: 69% -&gt; Turn 3: 42% at baseline).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Enhanced Prompt (Change 1): Improved Clarify accuracy without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regressing Chat performance.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Remaining Challenges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- 38.5% of tasks still fail across all models — requires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architectural changes or fine-tuning, not prompt engineering.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Sequential Multi-Tool (12.5-25%): error cascades cannot be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fixed by harness interventions alone.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- Mixed Multi-Tool still low (13-29%): compositional planning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is a core model capability gap.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Next Steps: Intent classifier router | Multi-step task planner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  </a:t>
            </a:r>
            <a:r>
              <a:rPr b="0" lang="en-US" sz="1100" spc="-1" strike="noStrike">
                <a:solidFill>
                  <a:srgbClr val="000000"/>
                </a:solidFill>
                <a:latin typeface="Arial"/>
                <a:ea typeface="Arial"/>
              </a:rPr>
              <a:t>| String normalization pre-processor</a:t>
            </a:r>
            <a:endParaRPr b="0" lang="en-US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37"/>
          </p:nvPr>
        </p:nvSpPr>
        <p:spPr>
          <a:xfrm>
            <a:off x="8556840" y="47498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300" spc="-1" strike="noStrike">
                <a:solidFill>
                  <a:srgbClr val="000000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3E0523-9828-4CC1-B34A-30E8919F7114}" type="slidenum">
              <a:rPr b="0" lang="en" sz="1300" spc="-1" strike="noStrike">
                <a:solidFill>
                  <a:srgbClr val="000000"/>
                </a:solidFill>
                <a:latin typeface="Arial"/>
                <a:ea typeface="Arial"/>
              </a:rPr>
              <a:t>&lt;number&gt;</a:t>
            </a:fld>
            <a:endParaRPr b="0" lang="en-US" sz="1300" spc="-1" strike="noStrike">
              <a:solidFill>
                <a:srgbClr val="000000"/>
              </a:solidFill>
              <a:latin typeface="Times New Roman"/>
            </a:endParaRPr>
          </a:p>
        </p:txBody>
      </p:sp>
      <p:pic>
        <p:nvPicPr>
          <p:cNvPr id="128" name="Picture 182" descr="04_subcategory_breakdown.png"/>
          <p:cNvPicPr/>
          <p:nvPr/>
        </p:nvPicPr>
        <p:blipFill>
          <a:blip r:embed="rId1"/>
          <a:stretch/>
        </p:blipFill>
        <p:spPr>
          <a:xfrm>
            <a:off x="4919400" y="1097280"/>
            <a:ext cx="4068720" cy="3748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3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4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6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8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9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0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1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2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3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4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5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6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7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8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9.xml><?xml version="1.0" encoding="utf-8"?>
<a:theme xmlns:a="http://schemas.openxmlformats.org/drawingml/2006/main" xmlns:r="http://schemas.openxmlformats.org/officeDocument/2006/relationships" name="ASU Template">
  <a:themeElements>
    <a:clrScheme name="ASU Pallet">
      <a:dk1>
        <a:srgbClr val="000000"/>
      </a:dk1>
      <a:lt1>
        <a:srgbClr val="ffffff"/>
      </a:lt1>
      <a:dk2>
        <a:srgbClr val="951d40"/>
      </a:dk2>
      <a:lt2>
        <a:srgbClr val="5c6670"/>
      </a:lt2>
      <a:accent1>
        <a:srgbClr val="ffc627"/>
      </a:accent1>
      <a:accent2>
        <a:srgbClr val="951d40"/>
      </a:accent2>
      <a:accent3>
        <a:srgbClr val="78be20"/>
      </a:accent3>
      <a:accent4>
        <a:srgbClr val="ff7f32"/>
      </a:accent4>
      <a:accent5>
        <a:srgbClr val="00a3e0"/>
      </a:accent5>
      <a:accent6>
        <a:srgbClr val="000000"/>
      </a:accent6>
      <a:hlink>
        <a:srgbClr val="951d40"/>
      </a:hlink>
      <a:folHlink>
        <a:srgbClr val="5c667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2026-05-05T20:16:11Z</dcterms:modified>
  <cp:revision>1</cp:revision>
  <dc:subject/>
  <dc:title/>
</cp:coreProperties>
</file>